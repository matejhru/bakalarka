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1" r:id="rId2"/>
    <p:sldId id="263" r:id="rId3"/>
    <p:sldId id="262" r:id="rId4"/>
    <p:sldId id="259" r:id="rId5"/>
    <p:sldId id="260" r:id="rId6"/>
    <p:sldId id="264" r:id="rId7"/>
    <p:sldId id="265" r:id="rId8"/>
    <p:sldId id="266" r:id="rId9"/>
    <p:sldId id="267" r:id="rId10"/>
    <p:sldId id="268" r:id="rId11"/>
    <p:sldId id="269" r:id="rId12"/>
    <p:sldId id="270" r:id="rId13"/>
  </p:sldIdLst>
  <p:sldSz cx="12192000" cy="6858000"/>
  <p:notesSz cx="6858000" cy="9144000"/>
  <p:defaultTextStyle>
    <a:defPPr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2" autoAdjust="0"/>
    <p:restoredTop sz="94660"/>
  </p:normalViewPr>
  <p:slideViewPr>
    <p:cSldViewPr snapToGrid="0">
      <p:cViewPr varScale="1">
        <p:scale>
          <a:sx n="81" d="100"/>
          <a:sy n="81" d="100"/>
        </p:scale>
        <p:origin x="114" y="16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hlavičk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3" name="Zástupný objekt pre dá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0A118D-1E7E-40D0-93A6-26F8AFECD611}" type="datetimeFigureOut">
              <a:rPr lang="sk-SK" smtClean="0"/>
              <a:t>21. 6. 2026</a:t>
            </a:fld>
            <a:endParaRPr lang="sk-SK"/>
          </a:p>
        </p:txBody>
      </p:sp>
      <p:sp>
        <p:nvSpPr>
          <p:cNvPr id="4" name="Zástupný objekt pre obrázok snímk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k-SK"/>
          </a:p>
        </p:txBody>
      </p:sp>
      <p:sp>
        <p:nvSpPr>
          <p:cNvPr id="5" name="Zástupný objekt pre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6" name="Zástupný objekt pre pät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7" name="Zástupný objekt pre číslo snímk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BA21E4-89A0-4411-ABE1-01280D3BF9E0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52231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Pozdraviť komisiu, predstaviť názov práce a jednou vetou povedať: praktickým výsledkom je prototyp 2D platformovej hry, kde používateľ zadá tému a systém vytvorí vizuálnu úroveň.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Vysvetliť širší kontext: AI dnes vie generovať obsah, ale v práci nejde iba o obrázky. Zaujímavá je ich použiteľnosť v hre. Nepoužívať ešte názvy technológií.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Cieľom nie je vysvetľovať všetky AI prístupy. Len ukázať, kam práca patrí: generatívna AI pre tvorbu herného obsahu.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Zdôrazniť, že cieľom nebolo iba spustiť Stable Diffusion, ale vytvoriť použiteľný proces: plán, assety, spracovanie, úroveň, testovanie.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Prejsť zľava doprava: používateľ zadá tému, LLM vytvorí plán, Stable Diffusion vygeneruje assety, tie sa upravia a Unity zostaví úroveň.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Dôležitá veta: všetko beží lokálne a Unity komunikuje s jednotlivými službami cez HTTP. Nezabiehať do inštalácie.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Vysvetliť, že LLM v práci neslúži na dialóg, ale ako plánovacia vrstva. Dôležité sú validácia a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Povedať, že pri obrazových výstupoch bolo potrebné riešiť praktické problémy: pozadie, orezanie, nepoužiteľné assety, retry a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Vysvetliť rozdiel: AI dodáva vzhľad a plán, procedurálny generátor zabezpečuje hrateľnú geometriu.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 je vhodné krátke demo alebo 3 screenshoty. Nezdržovať sa technickými detailmi, ukázať výsledok pre rôzne témy.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Povedať metodiku testovania stručne. Pri limitoch byť otvorený: AI výstupy vyžadujú kontrolu, systém nie je produkčné riešenie bez ďalšej optimalizácie.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Zhrnúť najdôležitejší prínos: nešlo len o generovanie obrázkov, ale o celý funkčný prototyp s validáciou, postprocessingom a hrateľným výsledkom.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778754D-C379-5898-E301-237DC0E4C8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09B5B162-215E-E1DE-1E76-27B3DFBD60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B869331B-7FBE-FF97-5246-0C362C2E1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EF726-F8FC-49BA-B3D5-574212150D3C}" type="datetimeFigureOut">
              <a:rPr lang="sk-SK" smtClean="0"/>
              <a:t>21. 6. 2026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070ACE62-7B0D-34D6-9732-1FBCA07B8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F38F0BF7-EF70-5182-04E1-49C277F0E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23E45-77B7-402A-A885-283671806180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36391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6C65487-65D4-6F49-EC11-74AF62F6C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B6BBB96-62DF-50BC-6072-6B49511CD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B3D33789-888D-53F4-6497-649F86CA4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EF726-F8FC-49BA-B3D5-574212150D3C}" type="datetimeFigureOut">
              <a:rPr lang="sk-SK" smtClean="0"/>
              <a:t>21. 6. 2026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363DE417-0CEE-3B2C-A623-42D8F1DEE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C1B567A0-FAD4-E7AD-F0DB-7D119F168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23E45-77B7-402A-A885-283671806180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845077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F15DE2B-0B49-D4ED-35A6-787DA4699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AD5EC31A-F0B4-FA15-C9B9-27B8494F55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D5BEF2C5-8DC2-888E-67E0-FDF12A8DD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EF726-F8FC-49BA-B3D5-574212150D3C}" type="datetimeFigureOut">
              <a:rPr lang="sk-SK" smtClean="0"/>
              <a:t>21. 6. 2026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A8701367-537A-2797-2541-49C3B041C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1A797949-398C-2C5C-315B-E8C554742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23E45-77B7-402A-A885-283671806180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166508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7D1CB81-97C6-4DF7-BC7C-FBD7CE585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531DAD3-FE4B-0993-2105-0118E2733D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E1AE2BE5-7F75-8BDF-BAF7-98B4F0654B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E3973E3C-BA87-C658-9B8B-89BEDAC4A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EF726-F8FC-49BA-B3D5-574212150D3C}" type="datetimeFigureOut">
              <a:rPr lang="sk-SK" smtClean="0"/>
              <a:t>21. 6. 2026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85EE7664-38E1-61BB-E150-572A8DD53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5FBFF25C-5926-B83E-A2E5-43F371237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23E45-77B7-402A-A885-283671806180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955505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05FD26D-1538-2DC6-92F0-BEE558218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E8A361AC-55B6-7E1F-68EA-9882764FBA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2D6AA4D1-6FEF-F26A-9F13-FE6A5EA4A4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A0677F0A-65A5-E04D-DAF7-66E2003B55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Zástupný objekt pre obsah 5">
            <a:extLst>
              <a:ext uri="{FF2B5EF4-FFF2-40B4-BE49-F238E27FC236}">
                <a16:creationId xmlns:a16="http://schemas.microsoft.com/office/drawing/2014/main" id="{9D66D0D1-F8CD-7717-B1AB-AB5ACF3BE9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7" name="Zástupný objekt pre dátum 6">
            <a:extLst>
              <a:ext uri="{FF2B5EF4-FFF2-40B4-BE49-F238E27FC236}">
                <a16:creationId xmlns:a16="http://schemas.microsoft.com/office/drawing/2014/main" id="{97DCC908-973F-F8B7-82C6-155A00759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EF726-F8FC-49BA-B3D5-574212150D3C}" type="datetimeFigureOut">
              <a:rPr lang="sk-SK" smtClean="0"/>
              <a:t>21. 6. 2026</a:t>
            </a:fld>
            <a:endParaRPr lang="sk-SK"/>
          </a:p>
        </p:txBody>
      </p:sp>
      <p:sp>
        <p:nvSpPr>
          <p:cNvPr id="8" name="Zástupný objekt pre pätu 7">
            <a:extLst>
              <a:ext uri="{FF2B5EF4-FFF2-40B4-BE49-F238E27FC236}">
                <a16:creationId xmlns:a16="http://schemas.microsoft.com/office/drawing/2014/main" id="{AF8D4EE5-B5D0-17BF-22B9-5C4DD4437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Zástupný objekt pre číslo snímky 8">
            <a:extLst>
              <a:ext uri="{FF2B5EF4-FFF2-40B4-BE49-F238E27FC236}">
                <a16:creationId xmlns:a16="http://schemas.microsoft.com/office/drawing/2014/main" id="{AD71CDD3-CC08-841C-DB47-4358DF226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23E45-77B7-402A-A885-283671806180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813412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5FF1FC5-688A-D8AD-F21A-CDCF607C4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dátum 2">
            <a:extLst>
              <a:ext uri="{FF2B5EF4-FFF2-40B4-BE49-F238E27FC236}">
                <a16:creationId xmlns:a16="http://schemas.microsoft.com/office/drawing/2014/main" id="{2E3BF7C8-3043-74E3-FEFF-2B76C9DD3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EF726-F8FC-49BA-B3D5-574212150D3C}" type="datetimeFigureOut">
              <a:rPr lang="sk-SK" smtClean="0"/>
              <a:t>21. 6. 2026</a:t>
            </a:fld>
            <a:endParaRPr lang="sk-SK"/>
          </a:p>
        </p:txBody>
      </p:sp>
      <p:sp>
        <p:nvSpPr>
          <p:cNvPr id="4" name="Zástupný objekt pre pätu 3">
            <a:extLst>
              <a:ext uri="{FF2B5EF4-FFF2-40B4-BE49-F238E27FC236}">
                <a16:creationId xmlns:a16="http://schemas.microsoft.com/office/drawing/2014/main" id="{BFEBDC29-0992-DD94-2E09-2D93D1A6F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EAA901D7-13A8-3C40-BA7E-A3EB6E6C5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23E45-77B7-402A-A885-283671806180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41648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dátum 1">
            <a:extLst>
              <a:ext uri="{FF2B5EF4-FFF2-40B4-BE49-F238E27FC236}">
                <a16:creationId xmlns:a16="http://schemas.microsoft.com/office/drawing/2014/main" id="{55D3401B-C019-BD8F-3540-2DDC79198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EF726-F8FC-49BA-B3D5-574212150D3C}" type="datetimeFigureOut">
              <a:rPr lang="sk-SK" smtClean="0"/>
              <a:t>21. 6. 2026</a:t>
            </a:fld>
            <a:endParaRPr lang="sk-SK"/>
          </a:p>
        </p:txBody>
      </p:sp>
      <p:sp>
        <p:nvSpPr>
          <p:cNvPr id="3" name="Zástupný objekt pre pätu 2">
            <a:extLst>
              <a:ext uri="{FF2B5EF4-FFF2-40B4-BE49-F238E27FC236}">
                <a16:creationId xmlns:a16="http://schemas.microsoft.com/office/drawing/2014/main" id="{AA9F087A-345B-4A8E-BF0B-A9295348C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BE962C62-473F-7D89-A3AB-B345CD65A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23E45-77B7-402A-A885-283671806180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094661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AAE87F2-24EC-423F-DA4C-A8B640953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9C1DDCF-AFF4-89DE-7C78-A600A0176A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D0BDD701-FD04-0860-41CF-CD4B950442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D73B974C-A80B-2D9C-1FE1-BEC59BB24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EF726-F8FC-49BA-B3D5-574212150D3C}" type="datetimeFigureOut">
              <a:rPr lang="sk-SK" smtClean="0"/>
              <a:t>21. 6. 2026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BAC14DC0-EC4B-3522-C0C5-2E6996D59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9F1C9F67-1090-909B-1F56-7E3A705B1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23E45-77B7-402A-A885-283671806180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167595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64F8E8A-C3A2-7FE5-DB12-87853B954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rázok 2">
            <a:extLst>
              <a:ext uri="{FF2B5EF4-FFF2-40B4-BE49-F238E27FC236}">
                <a16:creationId xmlns:a16="http://schemas.microsoft.com/office/drawing/2014/main" id="{F49A0AE5-9556-648C-870A-88A0681D37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k-SK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F737EB1C-5ABC-3DF5-2A47-5CDB480FD1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EE65C3ED-E38A-E1F7-AE2D-4D1A23CD0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EF726-F8FC-49BA-B3D5-574212150D3C}" type="datetimeFigureOut">
              <a:rPr lang="sk-SK" smtClean="0"/>
              <a:t>21. 6. 2026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EDC535C5-1418-EEA5-3CBB-3FFD1C330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F1124A65-12E4-3FFE-D537-7A05C5CA1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23E45-77B7-402A-A885-283671806180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199667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65697CF-5CD8-90F8-2812-DC24F7816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5DAD67B8-CF32-E630-A8BA-3E95D9EF3B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27A33B77-E0F8-FD19-F899-7D4797F68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EF726-F8FC-49BA-B3D5-574212150D3C}" type="datetimeFigureOut">
              <a:rPr lang="sk-SK" smtClean="0"/>
              <a:t>21. 6. 2026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B70FF28E-9FE5-F053-22B0-921817BC5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0B1510FB-8702-C3AC-7C94-1A08764A5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23E45-77B7-402A-A885-283671806180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72468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vislý nadpis 1">
            <a:extLst>
              <a:ext uri="{FF2B5EF4-FFF2-40B4-BE49-F238E27FC236}">
                <a16:creationId xmlns:a16="http://schemas.microsoft.com/office/drawing/2014/main" id="{450D1202-77CC-6C36-95B3-CE18B8D7FF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B649DD4B-3FC8-55EC-B002-B08054E82D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D3B520EF-CF09-6828-DED9-02047CC11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EF726-F8FC-49BA-B3D5-574212150D3C}" type="datetimeFigureOut">
              <a:rPr lang="sk-SK" smtClean="0"/>
              <a:t>21. 6. 2026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2C2B2F37-BB81-BED2-AA7E-B8A0577C8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D8FF91C7-BFD9-D9E5-E1A6-398C5C9BF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23E45-77B7-402A-A885-283671806180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0238203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1341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nadpis 1">
            <a:extLst>
              <a:ext uri="{FF2B5EF4-FFF2-40B4-BE49-F238E27FC236}">
                <a16:creationId xmlns:a16="http://schemas.microsoft.com/office/drawing/2014/main" id="{4A4945E8-961F-C580-572C-80AFE8676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4B07133-BBF6-101A-7EBF-6876F323B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C1F08FDF-FD3A-2B99-1D55-D2727DCB9F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5EF726-F8FC-49BA-B3D5-574212150D3C}" type="datetimeFigureOut">
              <a:rPr lang="sk-SK" smtClean="0"/>
              <a:t>21. 6. 2026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D6910606-6788-6A95-25E5-D57FE33C63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90F24477-2714-63AA-CC2C-15D70B2FA9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823E45-77B7-402A-A885-283671806180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56157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60807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22222"/>
                </a:solidFill>
              </a:rPr>
              <a:t>Využitie generatívnej umelej inteligencie v Unity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13232" y="2148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66666"/>
                </a:solidFill>
              </a:rPr>
              <a:t>Bakalárska práca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" y="4983480"/>
            <a:ext cx="47548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</a:rPr>
              <a:t>Matej Hrušovský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</a:rPr>
              <a:t>Školiteľ: Ing. Patrik Šebeš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</a:rPr>
              <a:t>FEI STU Bratislava, 2026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178040" y="685800"/>
            <a:ext cx="4343400" cy="539496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0" y="3218688"/>
            <a:ext cx="40690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</a:rPr>
              <a:t>Miesto pre najlepší screenshot výslednej úrovne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Motivácia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1247120" y="3840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</a:rPr>
              <a:t>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25880"/>
            <a:ext cx="6035040" cy="2834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Generatívna AI sa rýchlo rozšírila pri tvorbe textového a vizuálneho obsahu.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Hry potrebujú veľké množstvo assetov: pozadia, textúry, postavy a objekty.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 malých tímoch alebo prototypovaní môže byť ručná tvorba obsahu časovo náročná.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Motiváciou bolo overiť, či sa generovaný obsah dá použiť aj prakticky v hernom engine.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60920" y="1325880"/>
            <a:ext cx="3977640" cy="397764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0" y="3150108"/>
            <a:ext cx="37033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</a:rPr>
              <a:t>Miesto pre jednoduchý vizuál / screenshot hry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 </a:t>
            </a:r>
            <a:r>
              <a:rPr lang="en-US" sz="2800" b="1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hernom</a:t>
            </a:r>
            <a:r>
              <a:rPr lang="en-US" sz="2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vývoji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1247120" y="3840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</a:rPr>
              <a:t>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17320"/>
            <a:ext cx="4983480" cy="1234440"/>
          </a:xfrm>
          <a:prstGeom prst="rect">
            <a:avLst/>
          </a:prstGeom>
          <a:solidFill>
            <a:srgbClr val="F7F7F7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81912"/>
            <a:ext cx="448056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22222"/>
                </a:solidFill>
              </a:rPr>
              <a:t>Správanie NPC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05840" y="2039112"/>
            <a:ext cx="44805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</a:rPr>
              <a:t>stavové automaty, behavior trees, rozhodovanie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55080" y="1417320"/>
            <a:ext cx="4983480" cy="1234440"/>
          </a:xfrm>
          <a:prstGeom prst="rect">
            <a:avLst/>
          </a:prstGeom>
          <a:solidFill>
            <a:srgbClr val="F7F7F7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581912"/>
            <a:ext cx="448056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22222"/>
                </a:solidFill>
              </a:rPr>
              <a:t>Navigácia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583680" y="2039112"/>
            <a:ext cx="44805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</a:rPr>
              <a:t>pathfinding, navmesh, pohyb agentov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3337560"/>
            <a:ext cx="4983480" cy="1234440"/>
          </a:xfrm>
          <a:prstGeom prst="rect">
            <a:avLst/>
          </a:prstGeom>
          <a:solidFill>
            <a:srgbClr val="F7F7F7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502152"/>
            <a:ext cx="448056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22222"/>
                </a:solidFill>
              </a:rPr>
              <a:t>Procedurálne generovanie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005840" y="3959352"/>
            <a:ext cx="44805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</a:rPr>
              <a:t>mapy, úrovne, dungeony, rozloženie prvkov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55080" y="3337560"/>
            <a:ext cx="4983480" cy="1234440"/>
          </a:xfrm>
          <a:prstGeom prst="rect">
            <a:avLst/>
          </a:prstGeom>
          <a:solidFill>
            <a:srgbClr val="EAF2F8"/>
          </a:solidFill>
          <a:ln w="25400">
            <a:solidFill>
              <a:srgbClr val="4472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3502152"/>
            <a:ext cx="448056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22222"/>
                </a:solidFill>
              </a:rPr>
              <a:t>Generatívna AI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583680" y="3959352"/>
            <a:ext cx="44805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</a:rPr>
              <a:t>text, obrázky, assety, tematický obsah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 a cieľ práce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1247120" y="3840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</a:rPr>
              <a:t>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34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2222"/>
                </a:solidFill>
              </a:rPr>
              <a:t>Problém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691640"/>
            <a:ext cx="5394960" cy="2057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Vygenerovaný obrázok nie je automaticky použiteľný herný asset.</a:t>
            </a:r>
            <a:endParaRPr lang="en-US" sz="1700" dirty="0"/>
          </a:p>
          <a:p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Môže mať nevhodné pozadie, mierku, artefakty alebo nekonzistentný štýl.</a:t>
            </a:r>
            <a:endParaRPr lang="en-US" sz="1700" dirty="0"/>
          </a:p>
          <a:p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Textový výstup modelu musí mať správnu štruktúru a musí byť validovaný.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629400" y="1234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2222"/>
                </a:solidFill>
              </a:rPr>
              <a:t>Cieľ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675120" y="1691640"/>
            <a:ext cx="4937760" cy="2057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Navrhnúť lokálnu pipeline prepájajúcu LLM, generovanie obrázkov a Unity.</a:t>
            </a:r>
            <a:endParaRPr lang="en-US" sz="1700" dirty="0"/>
          </a:p>
          <a:p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textovej témy vytvoriť vizuálne assety a hrateľnú 2D úroveň.</a:t>
            </a:r>
            <a:endParaRPr lang="en-US" sz="1700" dirty="0"/>
          </a:p>
          <a:p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Overiť technickú náročnosť, úspešnosť a kvalitu výstupov.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Návrh </a:t>
            </a:r>
            <a:r>
              <a:rPr lang="en-US" sz="2800" b="1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riešenia</a:t>
            </a:r>
            <a:r>
              <a:rPr lang="en-US" sz="2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k-SK" sz="2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2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hlavná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1247120" y="3840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</a:rPr>
              <a:t>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965960"/>
            <a:ext cx="1874520" cy="1051560"/>
          </a:xfrm>
          <a:prstGeom prst="rect">
            <a:avLst/>
          </a:prstGeom>
          <a:solidFill>
            <a:srgbClr val="F7F7F7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2130552"/>
            <a:ext cx="164592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</a:rPr>
              <a:t>Téma používateľa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2648" y="2496312"/>
            <a:ext cx="16459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</a:rPr>
              <a:t>napr. Forest, Cave, Volcano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23160" y="22951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4472C4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816352" y="1965960"/>
            <a:ext cx="1874520" cy="1051560"/>
          </a:xfrm>
          <a:prstGeom prst="rect">
            <a:avLst/>
          </a:prstGeom>
          <a:solidFill>
            <a:srgbClr val="F7F7F7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2130552"/>
            <a:ext cx="164592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</a:rPr>
              <a:t>LLM plán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26080" y="2496312"/>
            <a:ext cx="16459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</a:rPr>
              <a:t>prompty + herné parametre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36592" y="22951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4472C4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129784" y="1965960"/>
            <a:ext cx="1874520" cy="1051560"/>
          </a:xfrm>
          <a:prstGeom prst="rect">
            <a:avLst/>
          </a:prstGeom>
          <a:solidFill>
            <a:srgbClr val="F7F7F7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39512" y="2130552"/>
            <a:ext cx="164592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</a:rPr>
              <a:t>Generovanie assetov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39512" y="2496312"/>
            <a:ext cx="16459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</a:rPr>
              <a:t>pozadie, terén, hráč, nepriatelia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050024" y="22951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4472C4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443216" y="1965960"/>
            <a:ext cx="1874520" cy="1051560"/>
          </a:xfrm>
          <a:prstGeom prst="rect">
            <a:avLst/>
          </a:prstGeom>
          <a:solidFill>
            <a:srgbClr val="F7F7F7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52944" y="2130552"/>
            <a:ext cx="164592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</a:rPr>
              <a:t>Postprocessing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552944" y="2496312"/>
            <a:ext cx="16459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</a:rPr>
              <a:t>odstránenie pozadia, crop, sprity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363456" y="22951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4472C4"/>
                </a:solidFill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9756648" y="1965960"/>
            <a:ext cx="1874520" cy="1051560"/>
          </a:xfrm>
          <a:prstGeom prst="rect">
            <a:avLst/>
          </a:prstGeom>
          <a:solidFill>
            <a:srgbClr val="F7F7F7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66376" y="2130552"/>
            <a:ext cx="164592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</a:rPr>
              <a:t>Unity úroveň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866376" y="2496312"/>
            <a:ext cx="16459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</a:rPr>
              <a:t>procedurálna mapa + aplikované assety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Architektúra a použité nástroje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1247120" y="3840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</a:rPr>
              <a:t>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234440"/>
            <a:ext cx="2468880" cy="502920"/>
          </a:xfrm>
          <a:prstGeom prst="rect">
            <a:avLst/>
          </a:prstGeom>
          <a:solidFill>
            <a:srgbClr val="EAF2F8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46120" y="1234440"/>
            <a:ext cx="3566160" cy="502920"/>
          </a:xfrm>
          <a:prstGeom prst="rect">
            <a:avLst/>
          </a:prstGeom>
          <a:solidFill>
            <a:srgbClr val="EAF2F8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344168"/>
            <a:ext cx="232257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</a:rPr>
              <a:t>Časť systému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319272" y="1344168"/>
            <a:ext cx="341985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</a:rPr>
              <a:t>Použitý nástroj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1737360"/>
            <a:ext cx="2468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737360"/>
            <a:ext cx="3566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1847088"/>
            <a:ext cx="232257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Herný engine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19272" y="1847088"/>
            <a:ext cx="341985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Unity + C# + Tilemap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77240" y="2240280"/>
            <a:ext cx="2468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2240280"/>
            <a:ext cx="3566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2350008"/>
            <a:ext cx="232257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Plán úrovne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19272" y="2350008"/>
            <a:ext cx="341985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Ollama + Mistral 7B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77240" y="2743200"/>
            <a:ext cx="2468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46120" y="2743200"/>
            <a:ext cx="3566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2852928"/>
            <a:ext cx="232257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Generovanie obrázkov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319272" y="2852928"/>
            <a:ext cx="341985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Stable Diffusion WebUI A1111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77240" y="3246120"/>
            <a:ext cx="2468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46120" y="3246120"/>
            <a:ext cx="3566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3355848"/>
            <a:ext cx="232257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Odstránenie pozadia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319272" y="3355848"/>
            <a:ext cx="341985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rembg + TextureUtils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77240" y="3749040"/>
            <a:ext cx="2468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46120" y="3749040"/>
            <a:ext cx="3566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" y="3858768"/>
            <a:ext cx="232257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Komunikácia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319272" y="3858768"/>
            <a:ext cx="341985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lokálne HTTP API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315200" y="1325880"/>
            <a:ext cx="3931920" cy="2697480"/>
          </a:xfrm>
          <a:prstGeom prst="rect">
            <a:avLst/>
          </a:prstGeom>
          <a:solidFill>
            <a:srgbClr val="F7F7F7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43800" y="1600200"/>
            <a:ext cx="34747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22222"/>
                </a:solidFill>
              </a:rPr>
              <a:t>Lokálny prístup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7635240" y="2148840"/>
            <a:ext cx="3291840" cy="1463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 cloudových API kľúčov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väčšia kontrola nad modelmi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vyššie hardvérové nároky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nutnosť spúšťať viac lokálnych služieb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02920" y="651052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Tento slide vysvetľuje, z čoho sa systém skladá.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Implementácia 1/3 – LLM plán a validácia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1247120" y="3840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</a:rPr>
              <a:t>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344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22222"/>
                </a:solidFill>
              </a:rPr>
              <a:t>Úloha LLM vrstvy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5303520" cy="2103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 vstupnej témy vytvorí štruktúrovaný plán úrovne</a:t>
            </a:r>
            <a:endParaRPr lang="en-US" sz="1700" dirty="0"/>
          </a:p>
          <a:p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generuje prompty pre jednotlivé vizuálne assety</a:t>
            </a:r>
            <a:endParaRPr lang="en-US" sz="1700" dirty="0"/>
          </a:p>
          <a:p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dopĺňa vybrané herné parametre</a:t>
            </a:r>
            <a:endParaRPr lang="en-US" sz="1700" dirty="0"/>
          </a:p>
          <a:p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výstup je následne parsovaný a validovaný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46520" y="12344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22222"/>
                </a:solidFill>
              </a:rPr>
              <a:t>Príklad obsahu plánu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492240" y="1737360"/>
            <a:ext cx="4800600" cy="2240280"/>
          </a:xfrm>
          <a:prstGeom prst="rect">
            <a:avLst/>
          </a:prstGeom>
          <a:solidFill>
            <a:srgbClr val="F7F7F7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20840" y="1965960"/>
            <a:ext cx="429768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"theme": "volcano",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"backgroundPrompt": "...",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"terrainPrompt": "...",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"enemySpeed": 2.8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Implementácia 2/3 – generovanie a spracovanie assetov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1247120" y="3840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</a:rPr>
              <a:t>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34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22222"/>
                </a:solidFill>
              </a:rPr>
              <a:t>Generované assety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68680" y="1691640"/>
            <a:ext cx="4389120" cy="1828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pozadie úrovne</a:t>
            </a:r>
            <a:endParaRPr lang="en-US" sz="1700" dirty="0"/>
          </a:p>
          <a:p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terénna textúra</a:t>
            </a:r>
            <a:endParaRPr lang="en-US" sz="1700" dirty="0"/>
          </a:p>
          <a:p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hráč</a:t>
            </a:r>
            <a:endParaRPr lang="en-US" sz="1700" dirty="0"/>
          </a:p>
          <a:p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nepriatelia a boss</a:t>
            </a:r>
            <a:endParaRPr lang="en-US" sz="1700" dirty="0"/>
          </a:p>
          <a:p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zberateľné objekty a projektily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035040" y="1234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22222"/>
                </a:solidFill>
              </a:rPr>
              <a:t>Postprocessing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126480" y="1691640"/>
            <a:ext cx="4572000" cy="1828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odstránenie pozadia</a:t>
            </a:r>
            <a:endParaRPr lang="en-US" sz="1700" dirty="0"/>
          </a:p>
          <a:p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orezanie obrázka</a:t>
            </a:r>
            <a:endParaRPr lang="en-US" sz="1700" dirty="0"/>
          </a:p>
          <a:p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úprava alfa kanála</a:t>
            </a:r>
            <a:endParaRPr lang="en-US" sz="1700" dirty="0"/>
          </a:p>
          <a:p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vyhladenie okrajov</a:t>
            </a:r>
            <a:endParaRPr lang="en-US" sz="1700" dirty="0"/>
          </a:p>
          <a:p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náhradné mechanizmy pri zlyhaní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Implementácia 3/3 – generovanie mapy a zostavenie scény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1247120" y="3840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</a:rPr>
              <a:t>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344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22222"/>
                </a:solidFill>
              </a:rPr>
              <a:t>LevelGenerator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68680" y="1737360"/>
            <a:ext cx="5120640" cy="2057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procedurálne vytvorenie 2D platformovej úrovne</a:t>
            </a:r>
            <a:endParaRPr lang="en-US" sz="1700" dirty="0"/>
          </a:p>
          <a:p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segmenty terénu, medzery a plošiny</a:t>
            </a:r>
            <a:endParaRPr lang="en-US" sz="1700" dirty="0"/>
          </a:p>
          <a:p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rozmiestnenie herných prvkov</a:t>
            </a:r>
            <a:endParaRPr lang="en-US" sz="1700" dirty="0"/>
          </a:p>
          <a:p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zohľadnenie priechodnosti úrovne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46520" y="12344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22222"/>
                </a:solidFill>
              </a:rPr>
              <a:t>LevelAssembler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537960" y="1737360"/>
            <a:ext cx="4846320" cy="2057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aplikuje vygenerované textúry a sprity do scény</a:t>
            </a:r>
            <a:endParaRPr lang="en-US" sz="1700" dirty="0"/>
          </a:p>
          <a:p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nahrádza predvolené vizuály výsledkami AI</a:t>
            </a:r>
            <a:endParaRPr lang="en-US" sz="1700" dirty="0"/>
          </a:p>
          <a:p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prepája assety s hernou logikou</a:t>
            </a:r>
            <a:endParaRPr lang="en-US" sz="1700" dirty="0"/>
          </a:p>
          <a:p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výsledkom je hrateľná tematická úroveň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02920" y="651052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Tento slide ukazuje prepojenie AI časti s reálnou hrou.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Ukážky výsledných úrovní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1247120" y="3840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</a:rPr>
              <a:t>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25880"/>
            <a:ext cx="3520440" cy="30175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670048"/>
            <a:ext cx="32461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</a:rPr>
              <a:t>Screenshot 1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</a:rPr>
              <a:t>napr. Cave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43400" y="1325880"/>
            <a:ext cx="3520440" cy="30175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2670048"/>
            <a:ext cx="32461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</a:rPr>
              <a:t>Screenshot 2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</a:rPr>
              <a:t>napr. Volcano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09560" y="1325880"/>
            <a:ext cx="3520440" cy="30175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2670048"/>
            <a:ext cx="32461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</a:rPr>
              <a:t>Screenshot 3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</a:rPr>
              <a:t>napr. Forest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Testovanie, výsledky a limity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1247120" y="3840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</a:rPr>
              <a:t>11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1430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22222"/>
                </a:solidFill>
              </a:rPr>
              <a:t>Vybrané výsledky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2514600" cy="822960"/>
          </a:xfrm>
          <a:prstGeom prst="rect">
            <a:avLst/>
          </a:prstGeom>
          <a:solidFill>
            <a:srgbClr val="F7F7F7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801368"/>
            <a:ext cx="22860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472C4"/>
                </a:solidFill>
              </a:rPr>
              <a:t>10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32688" y="2167128"/>
            <a:ext cx="228600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</a:rPr>
              <a:t>testovaných tém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11880" y="1691640"/>
            <a:ext cx="2514600" cy="822960"/>
          </a:xfrm>
          <a:prstGeom prst="rect">
            <a:avLst/>
          </a:prstGeom>
          <a:solidFill>
            <a:srgbClr val="F7F7F7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21608" y="1801368"/>
            <a:ext cx="22860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472C4"/>
                </a:solidFill>
              </a:rPr>
              <a:t>30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721608" y="2167128"/>
            <a:ext cx="228600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</a:rPr>
              <a:t>behov pipeline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2834640"/>
            <a:ext cx="2514600" cy="822960"/>
          </a:xfrm>
          <a:prstGeom prst="rect">
            <a:avLst/>
          </a:prstGeom>
          <a:solidFill>
            <a:srgbClr val="F7F7F7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2944368"/>
            <a:ext cx="22860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472C4"/>
                </a:solidFill>
              </a:rPr>
              <a:t>96,67 %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32688" y="3310128"/>
            <a:ext cx="228600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</a:rPr>
              <a:t>úspešnosť celej pipeline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11880" y="2834640"/>
            <a:ext cx="2514600" cy="822960"/>
          </a:xfrm>
          <a:prstGeom prst="rect">
            <a:avLst/>
          </a:prstGeom>
          <a:solidFill>
            <a:srgbClr val="F7F7F7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21608" y="2944368"/>
            <a:ext cx="22860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472C4"/>
                </a:solidFill>
              </a:rPr>
              <a:t>47,29 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721608" y="3310128"/>
            <a:ext cx="228600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</a:rPr>
              <a:t>priemerný čas prípravy úrovne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46520" y="1143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22222"/>
                </a:solidFill>
              </a:rPr>
              <a:t>Limity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6537960" y="1691640"/>
            <a:ext cx="4846320" cy="2240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nedeterministické výstupy generatívnych modelov</a:t>
            </a:r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vždy konzistentný vizuálny štýl assetov</a:t>
            </a:r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potreba validácie, postprocessingu a fallbackov</a:t>
            </a:r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časová a hardvérová náročnosť lokálneho generovania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Záver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1247120" y="3840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</a:rPr>
              <a:t>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2222"/>
                </a:solidFill>
              </a:rPr>
              <a:t>Čo sa podarilo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1737360"/>
            <a:ext cx="566928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navrhnúť a implementovať lokálnu GenAI pipeline pre Unity</a:t>
            </a:r>
            <a:endParaRPr lang="en-US" sz="1700" dirty="0"/>
          </a:p>
          <a:p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premeniť textovú tému na hrateľnú 2D úroveň</a:t>
            </a:r>
            <a:endParaRPr lang="en-US" sz="1700" dirty="0"/>
          </a:p>
          <a:p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spojiť LLM plánovanie, generovanie assetov a procedurálnu mapu</a:t>
            </a:r>
            <a:endParaRPr lang="en-US" sz="1700" dirty="0"/>
          </a:p>
          <a:p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zvýšiť stabilitu riešenia pomocou validácie a fallbackov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720840" y="1234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2222"/>
                </a:solidFill>
              </a:rPr>
              <a:t>Možné pokračovanie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12280" y="1737360"/>
            <a:ext cx="4434840" cy="2011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rýchlejšie modely </a:t>
            </a:r>
            <a:r>
              <a:rPr lang="en-US" sz="17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alebo</a:t>
            </a: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k-SK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využitie vzdialených modelov</a:t>
            </a:r>
            <a:endParaRPr lang="en-US" sz="1700" dirty="0"/>
          </a:p>
          <a:p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lepšia konzistentnosť štýlu</a:t>
            </a:r>
            <a:endParaRPr lang="en-US" sz="1700" dirty="0"/>
          </a:p>
          <a:p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generovanie zvuku alebo hudby</a:t>
            </a:r>
            <a:endParaRPr lang="en-US" sz="1700" dirty="0"/>
          </a:p>
          <a:p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rozšírenie na ďalšie typy úrovní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885</Words>
  <Application>Microsoft Office PowerPoint</Application>
  <PresentationFormat>Širokouhlá</PresentationFormat>
  <Paragraphs>170</Paragraphs>
  <Slides>12</Slides>
  <Notes>12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Consolas</vt:lpstr>
      <vt:lpstr>Motív Office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Matej Hrušovský</dc:creator>
  <cp:lastModifiedBy>Matej Hrušovský</cp:lastModifiedBy>
  <cp:revision>1</cp:revision>
  <dcterms:created xsi:type="dcterms:W3CDTF">2026-06-21T19:42:06Z</dcterms:created>
  <dcterms:modified xsi:type="dcterms:W3CDTF">2026-06-21T21:23:43Z</dcterms:modified>
</cp:coreProperties>
</file>